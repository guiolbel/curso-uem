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8288000" cy="10287000"/>
  <p:notesSz cx="6858000" cy="9144000"/>
  <p:embeddedFontLst>
    <p:embeddedFont>
      <p:font typeface="JetBrains Mono" charset="1" panose="02010509020102050004"/>
      <p:regular r:id="rId26"/>
    </p:embeddedFont>
    <p:embeddedFont>
      <p:font typeface="Lucida Console" charset="1" panose="020B0609040504020204"/>
      <p:regular r:id="rId27"/>
    </p:embeddedFont>
    <p:embeddedFont>
      <p:font typeface="Roboto Mono" charset="1" panose="00000000000000000000"/>
      <p:regular r:id="rId28"/>
    </p:embeddedFont>
    <p:embeddedFont>
      <p:font typeface="Roboto Mono Bold" charset="1" panose="00000000000000000000"/>
      <p:regular r:id="rId29"/>
    </p:embeddedFont>
    <p:embeddedFont>
      <p:font typeface="JetBrains Mono Bold" charset="1" panose="02010809030102050004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69299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5082789" cy="1043510"/>
              <a:chOff x="0" y="0"/>
              <a:chExt cx="1004008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004008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004008">
                    <a:moveTo>
                      <a:pt x="30463" y="0"/>
                    </a:moveTo>
                    <a:lnTo>
                      <a:pt x="973544" y="0"/>
                    </a:lnTo>
                    <a:cubicBezTo>
                      <a:pt x="990369" y="0"/>
                      <a:pt x="1004008" y="13639"/>
                      <a:pt x="1004008" y="30463"/>
                    </a:cubicBezTo>
                    <a:lnTo>
                      <a:pt x="1004008" y="175662"/>
                    </a:lnTo>
                    <a:cubicBezTo>
                      <a:pt x="1004008" y="192486"/>
                      <a:pt x="990369" y="206125"/>
                      <a:pt x="973544" y="206125"/>
                    </a:cubicBezTo>
                    <a:lnTo>
                      <a:pt x="30463" y="206125"/>
                    </a:lnTo>
                    <a:cubicBezTo>
                      <a:pt x="13639" y="206125"/>
                      <a:pt x="0" y="192486"/>
                      <a:pt x="0" y="175662"/>
                    </a:cubicBezTo>
                    <a:lnTo>
                      <a:pt x="0" y="30463"/>
                    </a:lnTo>
                    <a:cubicBezTo>
                      <a:pt x="0" y="13639"/>
                      <a:pt x="13639" y="0"/>
                      <a:pt x="30463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004008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647702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4610634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revisao_dia_2.py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24" id="24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25" id="25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26" id="26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27" id="27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28" id="28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29" id="29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30" id="30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31" id="31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32" id="32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33" id="33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34" id="34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35" id="35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36" id="36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37" id="37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38" id="38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39" id="39"/>
            <p:cNvGrpSpPr/>
            <p:nvPr/>
          </p:nvGrpSpPr>
          <p:grpSpPr>
            <a:xfrm rot="0">
              <a:off x="1868196" y="554790"/>
              <a:ext cx="5082789" cy="1043510"/>
              <a:chOff x="0" y="0"/>
              <a:chExt cx="1004008" cy="206125"/>
            </a:xfrm>
          </p:grpSpPr>
          <p:sp>
            <p:nvSpPr>
              <p:cNvPr name="Freeform 40" id="40"/>
              <p:cNvSpPr/>
              <p:nvPr/>
            </p:nvSpPr>
            <p:spPr>
              <a:xfrm flipH="false" flipV="false" rot="0">
                <a:off x="0" y="0"/>
                <a:ext cx="1004008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004008">
                    <a:moveTo>
                      <a:pt x="30463" y="0"/>
                    </a:moveTo>
                    <a:lnTo>
                      <a:pt x="973544" y="0"/>
                    </a:lnTo>
                    <a:cubicBezTo>
                      <a:pt x="990369" y="0"/>
                      <a:pt x="1004008" y="13639"/>
                      <a:pt x="1004008" y="30463"/>
                    </a:cubicBezTo>
                    <a:lnTo>
                      <a:pt x="1004008" y="175662"/>
                    </a:lnTo>
                    <a:cubicBezTo>
                      <a:pt x="1004008" y="192486"/>
                      <a:pt x="990369" y="206125"/>
                      <a:pt x="973544" y="206125"/>
                    </a:cubicBezTo>
                    <a:lnTo>
                      <a:pt x="30463" y="206125"/>
                    </a:lnTo>
                    <a:cubicBezTo>
                      <a:pt x="13639" y="206125"/>
                      <a:pt x="0" y="192486"/>
                      <a:pt x="0" y="175662"/>
                    </a:cubicBezTo>
                    <a:lnTo>
                      <a:pt x="0" y="30463"/>
                    </a:lnTo>
                    <a:cubicBezTo>
                      <a:pt x="0" y="13639"/>
                      <a:pt x="13639" y="0"/>
                      <a:pt x="30463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41" id="41"/>
              <p:cNvSpPr txBox="true"/>
              <p:nvPr/>
            </p:nvSpPr>
            <p:spPr>
              <a:xfrm>
                <a:off x="0" y="-38100"/>
                <a:ext cx="1004008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42" id="42"/>
            <p:cNvSpPr txBox="true"/>
            <p:nvPr/>
          </p:nvSpPr>
          <p:spPr>
            <a:xfrm rot="0">
              <a:off x="647702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43" id="43"/>
            <p:cNvSpPr txBox="true"/>
            <p:nvPr/>
          </p:nvSpPr>
          <p:spPr>
            <a:xfrm rot="0">
              <a:off x="2069427" y="763092"/>
              <a:ext cx="4610634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revisao_dia_2.py</a:t>
              </a:r>
            </a:p>
          </p:txBody>
        </p:sp>
      </p:grpSp>
      <p:sp>
        <p:nvSpPr>
          <p:cNvPr name="TextBox 44" id="44"/>
          <p:cNvSpPr txBox="true"/>
          <p:nvPr/>
        </p:nvSpPr>
        <p:spPr>
          <a:xfrm rot="0">
            <a:off x="1459671" y="1200150"/>
            <a:ext cx="16576040" cy="114236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800"/>
              </a:lnSpc>
            </a:pPr>
            <a:r>
              <a:rPr lang="en-US" sz="56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Revisão do Dia 2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1459671" y="2760027"/>
            <a:ext cx="16576040" cy="6138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Booleanos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7F2F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Operadores de Comparação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&lt;=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True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“A”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&gt;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“a”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False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‘Olá!’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‘Olá!’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True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!=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False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8971280" y="2760027"/>
            <a:ext cx="16576040" cy="61385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99"/>
              </a:lnSpc>
            </a:pP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# Operadores Lógicos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&lt;=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3497D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and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“A” 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“a”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False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‘Olá!’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‘Olá!’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3497D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or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10 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!=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10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True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497D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&gt;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3497D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and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3497D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and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&gt;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-2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False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3497D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&gt;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3497D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and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 </a:t>
            </a:r>
            <a:r>
              <a:rPr lang="en-US" sz="2799">
                <a:solidFill>
                  <a:srgbClr val="3497D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and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&gt;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-2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True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5082789" cy="1043510"/>
              <a:chOff x="0" y="0"/>
              <a:chExt cx="1004008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1004008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1004008">
                    <a:moveTo>
                      <a:pt x="30463" y="0"/>
                    </a:moveTo>
                    <a:lnTo>
                      <a:pt x="973544" y="0"/>
                    </a:lnTo>
                    <a:cubicBezTo>
                      <a:pt x="990369" y="0"/>
                      <a:pt x="1004008" y="13639"/>
                      <a:pt x="1004008" y="30463"/>
                    </a:cubicBezTo>
                    <a:lnTo>
                      <a:pt x="1004008" y="175662"/>
                    </a:lnTo>
                    <a:cubicBezTo>
                      <a:pt x="1004008" y="192486"/>
                      <a:pt x="990369" y="206125"/>
                      <a:pt x="973544" y="206125"/>
                    </a:cubicBezTo>
                    <a:lnTo>
                      <a:pt x="30463" y="206125"/>
                    </a:lnTo>
                    <a:cubicBezTo>
                      <a:pt x="13639" y="206125"/>
                      <a:pt x="0" y="192486"/>
                      <a:pt x="0" y="175662"/>
                    </a:cubicBezTo>
                    <a:lnTo>
                      <a:pt x="0" y="30463"/>
                    </a:lnTo>
                    <a:cubicBezTo>
                      <a:pt x="0" y="13639"/>
                      <a:pt x="13639" y="0"/>
                      <a:pt x="30463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1004008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647702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4610634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revisao_dia_2.py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48130"/>
            <a:ext cx="16576040" cy="737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Estruturas de Seleção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if e else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x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input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“-&gt; 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-3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x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&gt;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“Positivo”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elif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x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“Zero”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else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“Negativo”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Negativo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8971280" y="1548130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899"/>
              </a:lnSpc>
            </a:pP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# match case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x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input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“-&gt; 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-&gt;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match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x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case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“Caso um”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case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“Caso dois”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case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_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“Caso padrão”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  <a:p>
            <a:pPr algn="just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Caso dois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2936625" cy="1043510"/>
              <a:chOff x="0" y="0"/>
              <a:chExt cx="580074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580074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580074">
                    <a:moveTo>
                      <a:pt x="52727" y="0"/>
                    </a:moveTo>
                    <a:lnTo>
                      <a:pt x="527347" y="0"/>
                    </a:lnTo>
                    <a:cubicBezTo>
                      <a:pt x="541331" y="0"/>
                      <a:pt x="554743" y="5555"/>
                      <a:pt x="564631" y="15443"/>
                    </a:cubicBezTo>
                    <a:cubicBezTo>
                      <a:pt x="574519" y="25331"/>
                      <a:pt x="580074" y="38743"/>
                      <a:pt x="580074" y="52727"/>
                    </a:cubicBezTo>
                    <a:lnTo>
                      <a:pt x="580074" y="153399"/>
                    </a:lnTo>
                    <a:cubicBezTo>
                      <a:pt x="580074" y="182519"/>
                      <a:pt x="556468" y="206125"/>
                      <a:pt x="527347" y="206125"/>
                    </a:cubicBezTo>
                    <a:lnTo>
                      <a:pt x="52727" y="206125"/>
                    </a:lnTo>
                    <a:cubicBezTo>
                      <a:pt x="23607" y="206125"/>
                      <a:pt x="0" y="182519"/>
                      <a:pt x="0" y="153399"/>
                    </a:cubicBezTo>
                    <a:lnTo>
                      <a:pt x="0" y="52727"/>
                    </a:lnTo>
                    <a:cubicBezTo>
                      <a:pt x="0" y="23607"/>
                      <a:pt x="23607" y="0"/>
                      <a:pt x="52727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580074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356973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340163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dia_3.py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000125"/>
            <a:ext cx="16576040" cy="935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50"/>
              </a:lnSpc>
            </a:pPr>
            <a:r>
              <a:rPr lang="en-US" sz="46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Dia 3 -- Listas e Estruturas de Repetição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2145700"/>
            <a:ext cx="16576040" cy="737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Nós já vimos como armazenar um dado de um determinado tipo em variáveis, porém como faríamos para armazenar vários dados de forma eficiente?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Vamos dizer que temos um aluno, e na matéria de física ele realizou 3 provas, e guardaremos a nota dessas provas da seguinte forma: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joseNota1: float = 6.7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joseNota2: float = 3.4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joseNota3: float = 8.3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Isso parece meio contraintuitivo, especialmente quando podemos acabar errando o nome de uma das variáveis ou tiver outra com o nome parecido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229284" cy="1043510"/>
              <a:chOff x="0" y="0"/>
              <a:chExt cx="637883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37883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37883">
                    <a:moveTo>
                      <a:pt x="47948" y="0"/>
                    </a:moveTo>
                    <a:lnTo>
                      <a:pt x="589935" y="0"/>
                    </a:lnTo>
                    <a:cubicBezTo>
                      <a:pt x="616416" y="0"/>
                      <a:pt x="637883" y="21467"/>
                      <a:pt x="637883" y="47948"/>
                    </a:cubicBezTo>
                    <a:lnTo>
                      <a:pt x="637883" y="158177"/>
                    </a:lnTo>
                    <a:cubicBezTo>
                      <a:pt x="637883" y="184658"/>
                      <a:pt x="616416" y="206125"/>
                      <a:pt x="589935" y="206125"/>
                    </a:cubicBezTo>
                    <a:lnTo>
                      <a:pt x="47948" y="206125"/>
                    </a:lnTo>
                    <a:cubicBezTo>
                      <a:pt x="21467" y="206125"/>
                      <a:pt x="0" y="184658"/>
                      <a:pt x="0" y="158177"/>
                    </a:cubicBezTo>
                    <a:lnTo>
                      <a:pt x="0" y="47948"/>
                    </a:lnTo>
                    <a:cubicBezTo>
                      <a:pt x="0" y="21467"/>
                      <a:pt x="21467" y="0"/>
                      <a:pt x="47948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37883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5962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5268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listas.py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352550"/>
            <a:ext cx="16576040" cy="935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50"/>
              </a:lnSpc>
            </a:pPr>
            <a:r>
              <a:rPr lang="en-US" sz="46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Listas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2769552"/>
            <a:ext cx="16576040" cy="5519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Uma forma de resolvermos esse problema é com listas!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 conceito de arranjos ou “arrays” são estruturas sequenciais de dados de um mesmo tipo onde cada elemento são representados pro índices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Normalmente arrays possuem um tamanho fixo, mas no Python, temos a estrutura “list”, um arranjo dinâmico que, conforme elementos são adicionados ou removidos, a lista muda de tamanho.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229284" cy="1043510"/>
              <a:chOff x="0" y="0"/>
              <a:chExt cx="637883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37883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37883">
                    <a:moveTo>
                      <a:pt x="47948" y="0"/>
                    </a:moveTo>
                    <a:lnTo>
                      <a:pt x="589935" y="0"/>
                    </a:lnTo>
                    <a:cubicBezTo>
                      <a:pt x="616416" y="0"/>
                      <a:pt x="637883" y="21467"/>
                      <a:pt x="637883" y="47948"/>
                    </a:cubicBezTo>
                    <a:lnTo>
                      <a:pt x="637883" y="158177"/>
                    </a:lnTo>
                    <a:cubicBezTo>
                      <a:pt x="637883" y="184658"/>
                      <a:pt x="616416" y="206125"/>
                      <a:pt x="589935" y="206125"/>
                    </a:cubicBezTo>
                    <a:lnTo>
                      <a:pt x="47948" y="206125"/>
                    </a:lnTo>
                    <a:cubicBezTo>
                      <a:pt x="21467" y="206125"/>
                      <a:pt x="0" y="184658"/>
                      <a:pt x="0" y="158177"/>
                    </a:cubicBezTo>
                    <a:lnTo>
                      <a:pt x="0" y="47948"/>
                    </a:lnTo>
                    <a:cubicBezTo>
                      <a:pt x="0" y="21467"/>
                      <a:pt x="21467" y="0"/>
                      <a:pt x="47948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37883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5962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5268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listas.py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48130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Listas no Python são representadas com elementos entre colchetes, com cada elemento separado por uma vírgula, e pode ser declarada da seguinte forma: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dado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dado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 = 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dado0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dado1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dado2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Uma lista declarada sem a inicialização, cria uma lista vazia ([]) onde podemos adicionar elementos nela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Nosso exemplo anterior, com a estrutura de listas ficaria da seguinte forma: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notasJose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float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 = 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6.7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3.4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8.3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229284" cy="1043510"/>
              <a:chOff x="0" y="0"/>
              <a:chExt cx="637883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37883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37883">
                    <a:moveTo>
                      <a:pt x="47948" y="0"/>
                    </a:moveTo>
                    <a:lnTo>
                      <a:pt x="589935" y="0"/>
                    </a:lnTo>
                    <a:cubicBezTo>
                      <a:pt x="616416" y="0"/>
                      <a:pt x="637883" y="21467"/>
                      <a:pt x="637883" y="47948"/>
                    </a:cubicBezTo>
                    <a:lnTo>
                      <a:pt x="637883" y="158177"/>
                    </a:lnTo>
                    <a:cubicBezTo>
                      <a:pt x="637883" y="184658"/>
                      <a:pt x="616416" y="206125"/>
                      <a:pt x="589935" y="206125"/>
                    </a:cubicBezTo>
                    <a:lnTo>
                      <a:pt x="47948" y="206125"/>
                    </a:lnTo>
                    <a:cubicBezTo>
                      <a:pt x="21467" y="206125"/>
                      <a:pt x="0" y="184658"/>
                      <a:pt x="0" y="158177"/>
                    </a:cubicBezTo>
                    <a:lnTo>
                      <a:pt x="0" y="47948"/>
                    </a:lnTo>
                    <a:cubicBezTo>
                      <a:pt x="0" y="21467"/>
                      <a:pt x="21467" y="0"/>
                      <a:pt x="47948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37883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5962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5268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listas.py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617740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Indexação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Como dito anteriormente, as listas são indexadas, e cada um desses índices pode ser acessado, assim como nas strings!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 = 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“Jamily”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“Anna Lisia”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“Ana Julia”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[0]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“Jamily”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Assim como nas strings, podemos pegar uma sublista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[1:]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“Anna Lisia”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“Ana Julia”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nomes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[-1]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“Ana Julia”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229284" cy="1043510"/>
              <a:chOff x="0" y="0"/>
              <a:chExt cx="637883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37883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37883">
                    <a:moveTo>
                      <a:pt x="47948" y="0"/>
                    </a:moveTo>
                    <a:lnTo>
                      <a:pt x="589935" y="0"/>
                    </a:lnTo>
                    <a:cubicBezTo>
                      <a:pt x="616416" y="0"/>
                      <a:pt x="637883" y="21467"/>
                      <a:pt x="637883" y="47948"/>
                    </a:cubicBezTo>
                    <a:lnTo>
                      <a:pt x="637883" y="158177"/>
                    </a:lnTo>
                    <a:cubicBezTo>
                      <a:pt x="637883" y="184658"/>
                      <a:pt x="616416" y="206125"/>
                      <a:pt x="589935" y="206125"/>
                    </a:cubicBezTo>
                    <a:lnTo>
                      <a:pt x="47948" y="206125"/>
                    </a:lnTo>
                    <a:cubicBezTo>
                      <a:pt x="21467" y="206125"/>
                      <a:pt x="0" y="184658"/>
                      <a:pt x="0" y="158177"/>
                    </a:cubicBezTo>
                    <a:lnTo>
                      <a:pt x="0" y="47948"/>
                    </a:lnTo>
                    <a:cubicBezTo>
                      <a:pt x="0" y="21467"/>
                      <a:pt x="21467" y="0"/>
                      <a:pt x="47948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37883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5962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5268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listas.py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79715"/>
            <a:ext cx="16576040" cy="5519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Operações e métodos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# Assim como as strings, temos as operações de concatenação e repetição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Concatenação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 + 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4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Repetição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 *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5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7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229284" cy="1043510"/>
              <a:chOff x="0" y="0"/>
              <a:chExt cx="637883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37883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37883">
                    <a:moveTo>
                      <a:pt x="47948" y="0"/>
                    </a:moveTo>
                    <a:lnTo>
                      <a:pt x="589935" y="0"/>
                    </a:lnTo>
                    <a:cubicBezTo>
                      <a:pt x="616416" y="0"/>
                      <a:pt x="637883" y="21467"/>
                      <a:pt x="637883" y="47948"/>
                    </a:cubicBezTo>
                    <a:lnTo>
                      <a:pt x="637883" y="158177"/>
                    </a:lnTo>
                    <a:cubicBezTo>
                      <a:pt x="637883" y="184658"/>
                      <a:pt x="616416" y="206125"/>
                      <a:pt x="589935" y="206125"/>
                    </a:cubicBezTo>
                    <a:lnTo>
                      <a:pt x="47948" y="206125"/>
                    </a:lnTo>
                    <a:cubicBezTo>
                      <a:pt x="21467" y="206125"/>
                      <a:pt x="0" y="184658"/>
                      <a:pt x="0" y="158177"/>
                    </a:cubicBezTo>
                    <a:lnTo>
                      <a:pt x="0" y="47948"/>
                    </a:lnTo>
                    <a:cubicBezTo>
                      <a:pt x="0" y="21467"/>
                      <a:pt x="21467" y="0"/>
                      <a:pt x="47948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37883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5962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5268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listas.py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885825"/>
            <a:ext cx="16576040" cy="86150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Métodos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.append(item)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Adiciona *item* ao final da lista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 = 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append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9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9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.pop()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Remove o ultimo elemento da lista e retorna o seu valor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pop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9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229284" cy="1043510"/>
              <a:chOff x="0" y="0"/>
              <a:chExt cx="637883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37883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37883">
                    <a:moveTo>
                      <a:pt x="47948" y="0"/>
                    </a:moveTo>
                    <a:lnTo>
                      <a:pt x="589935" y="0"/>
                    </a:lnTo>
                    <a:cubicBezTo>
                      <a:pt x="616416" y="0"/>
                      <a:pt x="637883" y="21467"/>
                      <a:pt x="637883" y="47948"/>
                    </a:cubicBezTo>
                    <a:lnTo>
                      <a:pt x="637883" y="158177"/>
                    </a:lnTo>
                    <a:cubicBezTo>
                      <a:pt x="637883" y="184658"/>
                      <a:pt x="616416" y="206125"/>
                      <a:pt x="589935" y="206125"/>
                    </a:cubicBezTo>
                    <a:lnTo>
                      <a:pt x="47948" y="206125"/>
                    </a:lnTo>
                    <a:cubicBezTo>
                      <a:pt x="21467" y="206125"/>
                      <a:pt x="0" y="184658"/>
                      <a:pt x="0" y="158177"/>
                    </a:cubicBezTo>
                    <a:lnTo>
                      <a:pt x="0" y="47948"/>
                    </a:lnTo>
                    <a:cubicBezTo>
                      <a:pt x="0" y="21467"/>
                      <a:pt x="21467" y="0"/>
                      <a:pt x="47948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37883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5962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5268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listas.py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952299"/>
            <a:ext cx="16576040" cy="9234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.insert(pos, item)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Insere *item* na posição *pos*. Empurra todos os elementos seguintes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para frente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insert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6, 8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.remove(item)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Remove a primeira ocorrêencia de *item*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remove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6, 8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len(lista)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Retorna o numero de elementos da lista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len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3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229284" cy="1043510"/>
              <a:chOff x="0" y="0"/>
              <a:chExt cx="637883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37883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37883">
                    <a:moveTo>
                      <a:pt x="47948" y="0"/>
                    </a:moveTo>
                    <a:lnTo>
                      <a:pt x="589935" y="0"/>
                    </a:lnTo>
                    <a:cubicBezTo>
                      <a:pt x="616416" y="0"/>
                      <a:pt x="637883" y="21467"/>
                      <a:pt x="637883" y="47948"/>
                    </a:cubicBezTo>
                    <a:lnTo>
                      <a:pt x="637883" y="158177"/>
                    </a:lnTo>
                    <a:cubicBezTo>
                      <a:pt x="637883" y="184658"/>
                      <a:pt x="616416" y="206125"/>
                      <a:pt x="589935" y="206125"/>
                    </a:cubicBezTo>
                    <a:lnTo>
                      <a:pt x="47948" y="206125"/>
                    </a:lnTo>
                    <a:cubicBezTo>
                      <a:pt x="21467" y="206125"/>
                      <a:pt x="0" y="184658"/>
                      <a:pt x="0" y="158177"/>
                    </a:cubicBezTo>
                    <a:lnTo>
                      <a:pt x="0" y="47948"/>
                    </a:lnTo>
                    <a:cubicBezTo>
                      <a:pt x="0" y="21467"/>
                      <a:pt x="21467" y="0"/>
                      <a:pt x="47948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37883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5962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5268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listas.py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808870"/>
            <a:ext cx="16576040" cy="5519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.reverse()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Inverte a ordem dos elementos da lista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reverse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8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.sort()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Deixa a lista em ordem crescente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sort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8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3229284" cy="1043510"/>
              <a:chOff x="0" y="0"/>
              <a:chExt cx="637883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637883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637883">
                    <a:moveTo>
                      <a:pt x="47948" y="0"/>
                    </a:moveTo>
                    <a:lnTo>
                      <a:pt x="589935" y="0"/>
                    </a:lnTo>
                    <a:cubicBezTo>
                      <a:pt x="616416" y="0"/>
                      <a:pt x="637883" y="21467"/>
                      <a:pt x="637883" y="47948"/>
                    </a:cubicBezTo>
                    <a:lnTo>
                      <a:pt x="637883" y="158177"/>
                    </a:lnTo>
                    <a:cubicBezTo>
                      <a:pt x="637883" y="184658"/>
                      <a:pt x="616416" y="206125"/>
                      <a:pt x="589935" y="206125"/>
                    </a:cubicBezTo>
                    <a:lnTo>
                      <a:pt x="47948" y="206125"/>
                    </a:lnTo>
                    <a:cubicBezTo>
                      <a:pt x="21467" y="206125"/>
                      <a:pt x="0" y="184658"/>
                      <a:pt x="0" y="158177"/>
                    </a:cubicBezTo>
                    <a:lnTo>
                      <a:pt x="0" y="47948"/>
                    </a:lnTo>
                    <a:cubicBezTo>
                      <a:pt x="0" y="21467"/>
                      <a:pt x="21467" y="0"/>
                      <a:pt x="47948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637883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4596288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2526862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listas.py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76705"/>
            <a:ext cx="16576040" cy="79959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Agora que vimos como funcionam as listas, vamos voltar ao exemplo das notas!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Digamos que eu queira fazer a média aritmética da nota de José: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(notasJose[0] + notasJose[1] + notasJose[2]) / 3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6.1333333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Para esse caso é fácil visto que são apenas 3 valores, mas digamos que queremos a média da turma inteira com base nas 3 provas, em uma turma com apenas 20 alunos, isso já seriam mais de 60 elementos!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Definitivamente não é uma boa alternativa somar tudo isso manualmente...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4087749" cy="1043510"/>
              <a:chOff x="0" y="0"/>
              <a:chExt cx="80745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0745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807457">
                    <a:moveTo>
                      <a:pt x="37879" y="0"/>
                    </a:moveTo>
                    <a:lnTo>
                      <a:pt x="769578" y="0"/>
                    </a:lnTo>
                    <a:cubicBezTo>
                      <a:pt x="779624" y="0"/>
                      <a:pt x="789259" y="3991"/>
                      <a:pt x="796362" y="11094"/>
                    </a:cubicBezTo>
                    <a:cubicBezTo>
                      <a:pt x="803466" y="18198"/>
                      <a:pt x="807457" y="27833"/>
                      <a:pt x="807457" y="37879"/>
                    </a:cubicBezTo>
                    <a:lnTo>
                      <a:pt x="807457" y="168247"/>
                    </a:lnTo>
                    <a:cubicBezTo>
                      <a:pt x="807457" y="189167"/>
                      <a:pt x="790498" y="206125"/>
                      <a:pt x="769578" y="206125"/>
                    </a:cubicBezTo>
                    <a:lnTo>
                      <a:pt x="37879" y="206125"/>
                    </a:lnTo>
                    <a:cubicBezTo>
                      <a:pt x="27833" y="206125"/>
                      <a:pt x="18198" y="202135"/>
                      <a:pt x="11094" y="195031"/>
                    </a:cubicBezTo>
                    <a:cubicBezTo>
                      <a:pt x="3991" y="187927"/>
                      <a:pt x="0" y="178293"/>
                      <a:pt x="0" y="168247"/>
                    </a:cubicBezTo>
                    <a:lnTo>
                      <a:pt x="0" y="37879"/>
                    </a:lnTo>
                    <a:cubicBezTo>
                      <a:pt x="0" y="27833"/>
                      <a:pt x="3991" y="18198"/>
                      <a:pt x="11094" y="11094"/>
                    </a:cubicBezTo>
                    <a:cubicBezTo>
                      <a:pt x="18198" y="3991"/>
                      <a:pt x="27833" y="0"/>
                      <a:pt x="3787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80745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5423710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3307285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repeticao.py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323975"/>
            <a:ext cx="16576040" cy="9359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8050"/>
              </a:lnSpc>
            </a:pPr>
            <a:r>
              <a:rPr lang="en-US" sz="46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Estruturas de Repetição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2769552"/>
            <a:ext cx="16576040" cy="5519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 forma de solucionarmos esse problema é simples, vamos utilizar os famosos laços de repetição!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Amplamente utilizados para realizar ações repetidas de forma eficiente, seja com um número determinado de ciclos ou com uma condição específica de parada.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Serão abordados 2 tipos importantes de laço, o </a:t>
            </a:r>
            <a:r>
              <a:rPr lang="en-US" sz="2799" b="true">
                <a:solidFill>
                  <a:srgbClr val="42A458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for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e o</a:t>
            </a:r>
            <a:r>
              <a:rPr lang="en-US" sz="2799" b="true">
                <a:solidFill>
                  <a:srgbClr val="42A458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 while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4087749" cy="1043510"/>
              <a:chOff x="0" y="0"/>
              <a:chExt cx="80745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0745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807457">
                    <a:moveTo>
                      <a:pt x="37879" y="0"/>
                    </a:moveTo>
                    <a:lnTo>
                      <a:pt x="769578" y="0"/>
                    </a:lnTo>
                    <a:cubicBezTo>
                      <a:pt x="779624" y="0"/>
                      <a:pt x="789259" y="3991"/>
                      <a:pt x="796362" y="11094"/>
                    </a:cubicBezTo>
                    <a:cubicBezTo>
                      <a:pt x="803466" y="18198"/>
                      <a:pt x="807457" y="27833"/>
                      <a:pt x="807457" y="37879"/>
                    </a:cubicBezTo>
                    <a:lnTo>
                      <a:pt x="807457" y="168247"/>
                    </a:lnTo>
                    <a:cubicBezTo>
                      <a:pt x="807457" y="189167"/>
                      <a:pt x="790498" y="206125"/>
                      <a:pt x="769578" y="206125"/>
                    </a:cubicBezTo>
                    <a:lnTo>
                      <a:pt x="37879" y="206125"/>
                    </a:lnTo>
                    <a:cubicBezTo>
                      <a:pt x="27833" y="206125"/>
                      <a:pt x="18198" y="202135"/>
                      <a:pt x="11094" y="195031"/>
                    </a:cubicBezTo>
                    <a:cubicBezTo>
                      <a:pt x="3991" y="187927"/>
                      <a:pt x="0" y="178293"/>
                      <a:pt x="0" y="168247"/>
                    </a:cubicBezTo>
                    <a:lnTo>
                      <a:pt x="0" y="37879"/>
                    </a:lnTo>
                    <a:cubicBezTo>
                      <a:pt x="0" y="27833"/>
                      <a:pt x="3991" y="18198"/>
                      <a:pt x="11094" y="11094"/>
                    </a:cubicBezTo>
                    <a:cubicBezTo>
                      <a:pt x="18198" y="3991"/>
                      <a:pt x="27833" y="0"/>
                      <a:pt x="3787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80745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5423710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3307285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repeticao.py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77493"/>
            <a:ext cx="16576040" cy="675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 geral é usado quando queremos realizar um número determinado de repetições de uma mesma ação, ou percorrer todos os elementos de uma lista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for i in lista: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* bloco de código *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Traduzido vagamente pra “para </a:t>
            </a:r>
            <a:r>
              <a:rPr lang="en-US" sz="2799" b="true">
                <a:solidFill>
                  <a:srgbClr val="42A458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i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em </a:t>
            </a:r>
            <a:r>
              <a:rPr lang="en-US" sz="2799" b="true">
                <a:solidFill>
                  <a:srgbClr val="42A458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lista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“, quer dizer que para cada elemento da lista escolhida, armazena esse elemento em uma variável e executa o bloco de código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1362075"/>
            <a:ext cx="16576040" cy="7727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50"/>
              </a:lnSpc>
            </a:pPr>
            <a:r>
              <a:rPr lang="en-US" sz="38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Laço for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4087749" cy="1043510"/>
              <a:chOff x="0" y="0"/>
              <a:chExt cx="80745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0745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807457">
                    <a:moveTo>
                      <a:pt x="37879" y="0"/>
                    </a:moveTo>
                    <a:lnTo>
                      <a:pt x="769578" y="0"/>
                    </a:lnTo>
                    <a:cubicBezTo>
                      <a:pt x="779624" y="0"/>
                      <a:pt x="789259" y="3991"/>
                      <a:pt x="796362" y="11094"/>
                    </a:cubicBezTo>
                    <a:cubicBezTo>
                      <a:pt x="803466" y="18198"/>
                      <a:pt x="807457" y="27833"/>
                      <a:pt x="807457" y="37879"/>
                    </a:cubicBezTo>
                    <a:lnTo>
                      <a:pt x="807457" y="168247"/>
                    </a:lnTo>
                    <a:cubicBezTo>
                      <a:pt x="807457" y="189167"/>
                      <a:pt x="790498" y="206125"/>
                      <a:pt x="769578" y="206125"/>
                    </a:cubicBezTo>
                    <a:lnTo>
                      <a:pt x="37879" y="206125"/>
                    </a:lnTo>
                    <a:cubicBezTo>
                      <a:pt x="27833" y="206125"/>
                      <a:pt x="18198" y="202135"/>
                      <a:pt x="11094" y="195031"/>
                    </a:cubicBezTo>
                    <a:cubicBezTo>
                      <a:pt x="3991" y="187927"/>
                      <a:pt x="0" y="178293"/>
                      <a:pt x="0" y="168247"/>
                    </a:cubicBezTo>
                    <a:lnTo>
                      <a:pt x="0" y="37879"/>
                    </a:lnTo>
                    <a:cubicBezTo>
                      <a:pt x="0" y="27833"/>
                      <a:pt x="3991" y="18198"/>
                      <a:pt x="11094" y="11094"/>
                    </a:cubicBezTo>
                    <a:cubicBezTo>
                      <a:pt x="18198" y="3991"/>
                      <a:pt x="27833" y="0"/>
                      <a:pt x="3787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80745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5423710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3307285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repeticao.py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167968"/>
            <a:ext cx="16576040" cy="5519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Exemplo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cesta_frutas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list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[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str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 = [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“Uva”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“Maçã”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“Melancia”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“Banana”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]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fruta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cesta_frutas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fruta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Uva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Maçã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Melancia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Banana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4087749" cy="1043510"/>
              <a:chOff x="0" y="0"/>
              <a:chExt cx="80745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0745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807457">
                    <a:moveTo>
                      <a:pt x="37879" y="0"/>
                    </a:moveTo>
                    <a:lnTo>
                      <a:pt x="769578" y="0"/>
                    </a:lnTo>
                    <a:cubicBezTo>
                      <a:pt x="779624" y="0"/>
                      <a:pt x="789259" y="3991"/>
                      <a:pt x="796362" y="11094"/>
                    </a:cubicBezTo>
                    <a:cubicBezTo>
                      <a:pt x="803466" y="18198"/>
                      <a:pt x="807457" y="27833"/>
                      <a:pt x="807457" y="37879"/>
                    </a:cubicBezTo>
                    <a:lnTo>
                      <a:pt x="807457" y="168247"/>
                    </a:lnTo>
                    <a:cubicBezTo>
                      <a:pt x="807457" y="189167"/>
                      <a:pt x="790498" y="206125"/>
                      <a:pt x="769578" y="206125"/>
                    </a:cubicBezTo>
                    <a:lnTo>
                      <a:pt x="37879" y="206125"/>
                    </a:lnTo>
                    <a:cubicBezTo>
                      <a:pt x="27833" y="206125"/>
                      <a:pt x="18198" y="202135"/>
                      <a:pt x="11094" y="195031"/>
                    </a:cubicBezTo>
                    <a:cubicBezTo>
                      <a:pt x="3991" y="187927"/>
                      <a:pt x="0" y="178293"/>
                      <a:pt x="0" y="168247"/>
                    </a:cubicBezTo>
                    <a:lnTo>
                      <a:pt x="0" y="37879"/>
                    </a:lnTo>
                    <a:cubicBezTo>
                      <a:pt x="0" y="27833"/>
                      <a:pt x="3991" y="18198"/>
                      <a:pt x="11094" y="11094"/>
                    </a:cubicBezTo>
                    <a:cubicBezTo>
                      <a:pt x="18198" y="3991"/>
                      <a:pt x="27833" y="0"/>
                      <a:pt x="3787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80745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5423710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3307285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repeticao.py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948768"/>
            <a:ext cx="16576040" cy="9234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for i in range(x, y):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* bloco de código *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Traduzido vagamente pra “para </a:t>
            </a:r>
            <a:r>
              <a:rPr lang="en-US" sz="2799" b="true">
                <a:solidFill>
                  <a:srgbClr val="4DBD6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i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no intervalo </a:t>
            </a:r>
            <a:r>
              <a:rPr lang="en-US" sz="2799" b="true">
                <a:solidFill>
                  <a:srgbClr val="4DBD6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[x,y)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”. Isso quer dizer que i receberá como valor todos os números de x até y (excluindo o y), e para cada um, ele executará o bloco de código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Exemplo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 range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4087749" cy="1043510"/>
              <a:chOff x="0" y="0"/>
              <a:chExt cx="80745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0745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807457">
                    <a:moveTo>
                      <a:pt x="37879" y="0"/>
                    </a:moveTo>
                    <a:lnTo>
                      <a:pt x="769578" y="0"/>
                    </a:lnTo>
                    <a:cubicBezTo>
                      <a:pt x="779624" y="0"/>
                      <a:pt x="789259" y="3991"/>
                      <a:pt x="796362" y="11094"/>
                    </a:cubicBezTo>
                    <a:cubicBezTo>
                      <a:pt x="803466" y="18198"/>
                      <a:pt x="807457" y="27833"/>
                      <a:pt x="807457" y="37879"/>
                    </a:cubicBezTo>
                    <a:lnTo>
                      <a:pt x="807457" y="168247"/>
                    </a:lnTo>
                    <a:cubicBezTo>
                      <a:pt x="807457" y="189167"/>
                      <a:pt x="790498" y="206125"/>
                      <a:pt x="769578" y="206125"/>
                    </a:cubicBezTo>
                    <a:lnTo>
                      <a:pt x="37879" y="206125"/>
                    </a:lnTo>
                    <a:cubicBezTo>
                      <a:pt x="27833" y="206125"/>
                      <a:pt x="18198" y="202135"/>
                      <a:pt x="11094" y="195031"/>
                    </a:cubicBezTo>
                    <a:cubicBezTo>
                      <a:pt x="3991" y="187927"/>
                      <a:pt x="0" y="178293"/>
                      <a:pt x="0" y="168247"/>
                    </a:cubicBezTo>
                    <a:lnTo>
                      <a:pt x="0" y="37879"/>
                    </a:lnTo>
                    <a:cubicBezTo>
                      <a:pt x="0" y="27833"/>
                      <a:pt x="3991" y="18198"/>
                      <a:pt x="11094" y="11094"/>
                    </a:cubicBezTo>
                    <a:cubicBezTo>
                      <a:pt x="18198" y="3991"/>
                      <a:pt x="27833" y="0"/>
                      <a:pt x="3787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80745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5423710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3307285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repeticao.py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948768"/>
            <a:ext cx="16576040" cy="92341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for i in range(x, y):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* bloco de código *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Traduzido vagamente pra “para </a:t>
            </a:r>
            <a:r>
              <a:rPr lang="en-US" sz="2799" b="true">
                <a:solidFill>
                  <a:srgbClr val="4DBD6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i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no intervalo </a:t>
            </a:r>
            <a:r>
              <a:rPr lang="en-US" sz="2799" b="true">
                <a:solidFill>
                  <a:srgbClr val="4DBD6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[x,y)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”. Isso quer dizer que i receberá como valor todos os números de x até y (excluindo o y), e para cada um, ele executará o bloco de código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Exemplo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 range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6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soma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4087749" cy="1043510"/>
              <a:chOff x="0" y="0"/>
              <a:chExt cx="80745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0745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807457">
                    <a:moveTo>
                      <a:pt x="37879" y="0"/>
                    </a:moveTo>
                    <a:lnTo>
                      <a:pt x="769578" y="0"/>
                    </a:lnTo>
                    <a:cubicBezTo>
                      <a:pt x="779624" y="0"/>
                      <a:pt x="789259" y="3991"/>
                      <a:pt x="796362" y="11094"/>
                    </a:cubicBezTo>
                    <a:cubicBezTo>
                      <a:pt x="803466" y="18198"/>
                      <a:pt x="807457" y="27833"/>
                      <a:pt x="807457" y="37879"/>
                    </a:cubicBezTo>
                    <a:lnTo>
                      <a:pt x="807457" y="168247"/>
                    </a:lnTo>
                    <a:cubicBezTo>
                      <a:pt x="807457" y="189167"/>
                      <a:pt x="790498" y="206125"/>
                      <a:pt x="769578" y="206125"/>
                    </a:cubicBezTo>
                    <a:lnTo>
                      <a:pt x="37879" y="206125"/>
                    </a:lnTo>
                    <a:cubicBezTo>
                      <a:pt x="27833" y="206125"/>
                      <a:pt x="18198" y="202135"/>
                      <a:pt x="11094" y="195031"/>
                    </a:cubicBezTo>
                    <a:cubicBezTo>
                      <a:pt x="3991" y="187927"/>
                      <a:pt x="0" y="178293"/>
                      <a:pt x="0" y="168247"/>
                    </a:cubicBezTo>
                    <a:lnTo>
                      <a:pt x="0" y="37879"/>
                    </a:lnTo>
                    <a:cubicBezTo>
                      <a:pt x="0" y="27833"/>
                      <a:pt x="3991" y="18198"/>
                      <a:pt x="11094" y="11094"/>
                    </a:cubicBezTo>
                    <a:cubicBezTo>
                      <a:pt x="18198" y="3991"/>
                      <a:pt x="27833" y="0"/>
                      <a:pt x="3787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80745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5423710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3307285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repeticao.py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93215"/>
            <a:ext cx="16576040" cy="737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 intervalo de range é composto por três elementos o inicio, o fim, e o passo com que é atualizada a variável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Logo, um range pode ser descrito da seguinte forma </a:t>
            </a:r>
            <a:r>
              <a:rPr lang="en-US" sz="2799" b="true">
                <a:solidFill>
                  <a:srgbClr val="4DBD6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range(inicio, fim, passo)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 Apenas o fim é realmente necessário de declarar </a:t>
            </a:r>
            <a:r>
              <a:rPr lang="en-US" sz="2799" b="true">
                <a:solidFill>
                  <a:srgbClr val="4DBD66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range(fim)</a:t>
            </a: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, nesse caso, assume-se que o início é 0, e o passo é 1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Algumas possibilidades de range são: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range(10) # Vai de 0 a 10 com passo 1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range(0, 10, 2) # Vai de 0 a 10, de 2 em 2 números (0,2,4,8)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DBD66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 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4087749" cy="1043510"/>
              <a:chOff x="0" y="0"/>
              <a:chExt cx="80745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0745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807457">
                    <a:moveTo>
                      <a:pt x="37879" y="0"/>
                    </a:moveTo>
                    <a:lnTo>
                      <a:pt x="769578" y="0"/>
                    </a:lnTo>
                    <a:cubicBezTo>
                      <a:pt x="779624" y="0"/>
                      <a:pt x="789259" y="3991"/>
                      <a:pt x="796362" y="11094"/>
                    </a:cubicBezTo>
                    <a:cubicBezTo>
                      <a:pt x="803466" y="18198"/>
                      <a:pt x="807457" y="27833"/>
                      <a:pt x="807457" y="37879"/>
                    </a:cubicBezTo>
                    <a:lnTo>
                      <a:pt x="807457" y="168247"/>
                    </a:lnTo>
                    <a:cubicBezTo>
                      <a:pt x="807457" y="189167"/>
                      <a:pt x="790498" y="206125"/>
                      <a:pt x="769578" y="206125"/>
                    </a:cubicBezTo>
                    <a:lnTo>
                      <a:pt x="37879" y="206125"/>
                    </a:lnTo>
                    <a:cubicBezTo>
                      <a:pt x="27833" y="206125"/>
                      <a:pt x="18198" y="202135"/>
                      <a:pt x="11094" y="195031"/>
                    </a:cubicBezTo>
                    <a:cubicBezTo>
                      <a:pt x="3991" y="187927"/>
                      <a:pt x="0" y="178293"/>
                      <a:pt x="0" y="168247"/>
                    </a:cubicBezTo>
                    <a:lnTo>
                      <a:pt x="0" y="37879"/>
                    </a:lnTo>
                    <a:cubicBezTo>
                      <a:pt x="0" y="27833"/>
                      <a:pt x="3991" y="18198"/>
                      <a:pt x="11094" y="11094"/>
                    </a:cubicBezTo>
                    <a:cubicBezTo>
                      <a:pt x="18198" y="3991"/>
                      <a:pt x="27833" y="0"/>
                      <a:pt x="3787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80745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5423710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3307285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repeticao.py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788602"/>
            <a:ext cx="16576040" cy="55194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Usado geralmente para repetir blocos sobre uma condição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while </a:t>
            </a:r>
            <a:r>
              <a:rPr lang="en-US" sz="2799" b="true">
                <a:solidFill>
                  <a:srgbClr val="42A458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condição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* bloco de código *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Pode ser traduzido para “enquanto </a:t>
            </a:r>
            <a:r>
              <a:rPr lang="en-US" sz="2799" b="true">
                <a:solidFill>
                  <a:srgbClr val="42A458"/>
                </a:solidFill>
                <a:latin typeface="JetBrains Mono Bold"/>
                <a:ea typeface="JetBrains Mono Bold"/>
                <a:cs typeface="JetBrains Mono Bold"/>
                <a:sym typeface="JetBrains Mono Bold"/>
              </a:rPr>
              <a:t>condição</a:t>
            </a: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“, assim, o bloco de código é executado indefinidamente enquanto a condição for verdadeira (true)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1362075"/>
            <a:ext cx="16576040" cy="7727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50"/>
              </a:lnSpc>
            </a:pPr>
            <a:r>
              <a:rPr lang="en-US" sz="38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Laço while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4087749" cy="1043510"/>
              <a:chOff x="0" y="0"/>
              <a:chExt cx="80745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0745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807457">
                    <a:moveTo>
                      <a:pt x="37879" y="0"/>
                    </a:moveTo>
                    <a:lnTo>
                      <a:pt x="769578" y="0"/>
                    </a:lnTo>
                    <a:cubicBezTo>
                      <a:pt x="779624" y="0"/>
                      <a:pt x="789259" y="3991"/>
                      <a:pt x="796362" y="11094"/>
                    </a:cubicBezTo>
                    <a:cubicBezTo>
                      <a:pt x="803466" y="18198"/>
                      <a:pt x="807457" y="27833"/>
                      <a:pt x="807457" y="37879"/>
                    </a:cubicBezTo>
                    <a:lnTo>
                      <a:pt x="807457" y="168247"/>
                    </a:lnTo>
                    <a:cubicBezTo>
                      <a:pt x="807457" y="189167"/>
                      <a:pt x="790498" y="206125"/>
                      <a:pt x="769578" y="206125"/>
                    </a:cubicBezTo>
                    <a:lnTo>
                      <a:pt x="37879" y="206125"/>
                    </a:lnTo>
                    <a:cubicBezTo>
                      <a:pt x="27833" y="206125"/>
                      <a:pt x="18198" y="202135"/>
                      <a:pt x="11094" y="195031"/>
                    </a:cubicBezTo>
                    <a:cubicBezTo>
                      <a:pt x="3991" y="187927"/>
                      <a:pt x="0" y="178293"/>
                      <a:pt x="0" y="168247"/>
                    </a:cubicBezTo>
                    <a:lnTo>
                      <a:pt x="0" y="37879"/>
                    </a:lnTo>
                    <a:cubicBezTo>
                      <a:pt x="0" y="27833"/>
                      <a:pt x="3991" y="18198"/>
                      <a:pt x="11094" y="11094"/>
                    </a:cubicBezTo>
                    <a:cubicBezTo>
                      <a:pt x="18198" y="3991"/>
                      <a:pt x="27833" y="0"/>
                      <a:pt x="3787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80745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5423710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3307285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repeticao.py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1545590"/>
            <a:ext cx="16576040" cy="73767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 Exemplo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num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input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“Insira um número: “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mult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2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achou_divisor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 </a:t>
            </a:r>
            <a:r>
              <a:rPr lang="en-US" sz="2799">
                <a:solidFill>
                  <a:srgbClr val="0BFFA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bool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False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&gt;&gt;&gt;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while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3497D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not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achou_divisor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num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%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mult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0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achou_divisor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True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if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mult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==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num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“Não é primo”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</a:t>
            </a:r>
            <a:r>
              <a:rPr lang="en-US" sz="2799">
                <a:solidFill>
                  <a:srgbClr val="B45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else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: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        </a:t>
            </a:r>
            <a:r>
              <a:rPr lang="en-US" sz="2799">
                <a:solidFill>
                  <a:srgbClr val="F4D074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print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(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“É primo”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)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...     </a:t>
            </a:r>
            <a:r>
              <a:rPr lang="en-US" sz="2799">
                <a:solidFill>
                  <a:srgbClr val="A5D1F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mult</a:t>
            </a:r>
            <a:r>
              <a:rPr lang="en-US" sz="2799">
                <a:solidFill>
                  <a:srgbClr val="E2E8E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 += </a:t>
            </a:r>
            <a:r>
              <a:rPr lang="en-US" sz="2799">
                <a:solidFill>
                  <a:srgbClr val="CD9485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1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>
  <p:cSld>
    <p:bg>
      <p:bgPr>
        <a:solidFill>
          <a:srgbClr val="2222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-101924" y="-93824"/>
            <a:ext cx="18426598" cy="10380824"/>
            <a:chOff x="0" y="0"/>
            <a:chExt cx="24568798" cy="13841099"/>
          </a:xfrm>
        </p:grpSpPr>
        <p:grpSp>
          <p:nvGrpSpPr>
            <p:cNvPr name="Group 3" id="3"/>
            <p:cNvGrpSpPr/>
            <p:nvPr/>
          </p:nvGrpSpPr>
          <p:grpSpPr>
            <a:xfrm rot="0">
              <a:off x="0" y="568074"/>
              <a:ext cx="1868196" cy="13273025"/>
              <a:chOff x="0" y="0"/>
              <a:chExt cx="369026" cy="2621832"/>
            </a:xfrm>
          </p:grpSpPr>
          <p:sp>
            <p:nvSpPr>
              <p:cNvPr name="Freeform 4" id="4"/>
              <p:cNvSpPr/>
              <p:nvPr/>
            </p:nvSpPr>
            <p:spPr>
              <a:xfrm flipH="false" flipV="false" rot="0">
                <a:off x="0" y="0"/>
                <a:ext cx="369026" cy="2621832"/>
              </a:xfrm>
              <a:custGeom>
                <a:avLst/>
                <a:gdLst/>
                <a:ahLst/>
                <a:cxnLst/>
                <a:rect r="r" b="b" t="t" l="l"/>
                <a:pathLst>
                  <a:path h="2621832" w="369026">
                    <a:moveTo>
                      <a:pt x="0" y="0"/>
                    </a:moveTo>
                    <a:lnTo>
                      <a:pt x="369026" y="0"/>
                    </a:lnTo>
                    <a:lnTo>
                      <a:pt x="369026" y="2621832"/>
                    </a:lnTo>
                    <a:lnTo>
                      <a:pt x="0" y="2621832"/>
                    </a:lnTo>
                    <a:close/>
                  </a:path>
                </a:pathLst>
              </a:custGeom>
              <a:solidFill>
                <a:srgbClr val="222222"/>
              </a:solidFill>
              <a:ln w="38100" cap="sq">
                <a:solidFill>
                  <a:srgbClr val="444444"/>
                </a:solidFill>
                <a:prstDash val="solid"/>
                <a:miter/>
              </a:ln>
            </p:spPr>
          </p:sp>
          <p:sp>
            <p:nvSpPr>
              <p:cNvPr name="TextBox 5" id="5"/>
              <p:cNvSpPr txBox="true"/>
              <p:nvPr/>
            </p:nvSpPr>
            <p:spPr>
              <a:xfrm>
                <a:off x="0" y="-161925"/>
                <a:ext cx="369026" cy="278375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r">
                  <a:lnSpc>
                    <a:spcPts val="5039"/>
                  </a:lnSpc>
                </a:pP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5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6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7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8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9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10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11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12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13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14 </a:t>
                </a:r>
              </a:p>
              <a:p>
                <a:pPr algn="r">
                  <a:lnSpc>
                    <a:spcPts val="4899"/>
                  </a:lnSpc>
                </a:pPr>
                <a:r>
                  <a:rPr lang="en-US" sz="2799">
                    <a:solidFill>
                      <a:srgbClr val="9B9B9B"/>
                    </a:solidFill>
                    <a:latin typeface="JetBrains Mono"/>
                    <a:ea typeface="JetBrains Mono"/>
                    <a:cs typeface="JetBrains Mono"/>
                    <a:sym typeface="JetBrains Mono"/>
                  </a:rPr>
                  <a:t>15 </a:t>
                </a:r>
              </a:p>
            </p:txBody>
          </p:sp>
        </p:grpSp>
        <p:grpSp>
          <p:nvGrpSpPr>
            <p:cNvPr name="Group 6" id="6"/>
            <p:cNvGrpSpPr/>
            <p:nvPr/>
          </p:nvGrpSpPr>
          <p:grpSpPr>
            <a:xfrm rot="0">
              <a:off x="61599" y="0"/>
              <a:ext cx="24507199" cy="1471299"/>
              <a:chOff x="0" y="0"/>
              <a:chExt cx="4840928" cy="290627"/>
            </a:xfrm>
          </p:grpSpPr>
          <p:sp>
            <p:nvSpPr>
              <p:cNvPr name="Freeform 7" id="7"/>
              <p:cNvSpPr/>
              <p:nvPr/>
            </p:nvSpPr>
            <p:spPr>
              <a:xfrm flipH="false" flipV="false" rot="0">
                <a:off x="0" y="0"/>
                <a:ext cx="4840928" cy="290627"/>
              </a:xfrm>
              <a:custGeom>
                <a:avLst/>
                <a:gdLst/>
                <a:ahLst/>
                <a:cxnLst/>
                <a:rect r="r" b="b" t="t" l="l"/>
                <a:pathLst>
                  <a:path h="290627" w="4840928">
                    <a:moveTo>
                      <a:pt x="0" y="0"/>
                    </a:moveTo>
                    <a:lnTo>
                      <a:pt x="4840928" y="0"/>
                    </a:lnTo>
                    <a:lnTo>
                      <a:pt x="4840928" y="290627"/>
                    </a:lnTo>
                    <a:lnTo>
                      <a:pt x="0" y="290627"/>
                    </a:lnTo>
                    <a:close/>
                  </a:path>
                </a:pathLst>
              </a:custGeom>
              <a:solidFill>
                <a:srgbClr val="444444"/>
              </a:solidFill>
              <a:ln cap="sq">
                <a:noFill/>
                <a:prstDash val="solid"/>
                <a:miter/>
              </a:ln>
            </p:spPr>
          </p:sp>
          <p:sp>
            <p:nvSpPr>
              <p:cNvPr name="TextBox 8" id="8"/>
              <p:cNvSpPr txBox="true"/>
              <p:nvPr/>
            </p:nvSpPr>
            <p:spPr>
              <a:xfrm>
                <a:off x="0" y="-38100"/>
                <a:ext cx="4840928" cy="328727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59"/>
                  </a:lnSpc>
                  <a:spcBef>
                    <a:spcPct val="0"/>
                  </a:spcBef>
                </a:pPr>
              </a:p>
            </p:txBody>
          </p:sp>
        </p:grpSp>
        <p:grpSp>
          <p:nvGrpSpPr>
            <p:cNvPr name="Group 9" id="9"/>
            <p:cNvGrpSpPr/>
            <p:nvPr/>
          </p:nvGrpSpPr>
          <p:grpSpPr>
            <a:xfrm rot="0">
              <a:off x="302597" y="554790"/>
              <a:ext cx="361720" cy="361720"/>
              <a:chOff x="0" y="0"/>
              <a:chExt cx="812800" cy="812800"/>
            </a:xfrm>
          </p:grpSpPr>
          <p:sp>
            <p:nvSpPr>
              <p:cNvPr name="Freeform 10" id="10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85050"/>
              </a:solidFill>
            </p:spPr>
          </p:sp>
          <p:sp>
            <p:nvSpPr>
              <p:cNvPr name="TextBox 11" id="11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2" id="12"/>
            <p:cNvGrpSpPr/>
            <p:nvPr/>
          </p:nvGrpSpPr>
          <p:grpSpPr>
            <a:xfrm rot="0">
              <a:off x="816759" y="554790"/>
              <a:ext cx="361720" cy="361720"/>
              <a:chOff x="0" y="0"/>
              <a:chExt cx="812800" cy="812800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F4D074"/>
              </a:solid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1330879" y="554790"/>
              <a:ext cx="361720" cy="361720"/>
              <a:chOff x="0" y="0"/>
              <a:chExt cx="812800" cy="812800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812800" cy="812800"/>
              </a:xfrm>
              <a:custGeom>
                <a:avLst/>
                <a:gdLst/>
                <a:ahLst/>
                <a:cxnLst/>
                <a:rect r="r" b="b" t="t" l="l"/>
                <a:pathLst>
                  <a:path h="812800" w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56D673"/>
              </a:solid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1868196" y="554790"/>
              <a:ext cx="4087749" cy="1043510"/>
              <a:chOff x="0" y="0"/>
              <a:chExt cx="807457" cy="206125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807457" cy="206125"/>
              </a:xfrm>
              <a:custGeom>
                <a:avLst/>
                <a:gdLst/>
                <a:ahLst/>
                <a:cxnLst/>
                <a:rect r="r" b="b" t="t" l="l"/>
                <a:pathLst>
                  <a:path h="206125" w="807457">
                    <a:moveTo>
                      <a:pt x="37879" y="0"/>
                    </a:moveTo>
                    <a:lnTo>
                      <a:pt x="769578" y="0"/>
                    </a:lnTo>
                    <a:cubicBezTo>
                      <a:pt x="779624" y="0"/>
                      <a:pt x="789259" y="3991"/>
                      <a:pt x="796362" y="11094"/>
                    </a:cubicBezTo>
                    <a:cubicBezTo>
                      <a:pt x="803466" y="18198"/>
                      <a:pt x="807457" y="27833"/>
                      <a:pt x="807457" y="37879"/>
                    </a:cubicBezTo>
                    <a:lnTo>
                      <a:pt x="807457" y="168247"/>
                    </a:lnTo>
                    <a:cubicBezTo>
                      <a:pt x="807457" y="189167"/>
                      <a:pt x="790498" y="206125"/>
                      <a:pt x="769578" y="206125"/>
                    </a:cubicBezTo>
                    <a:lnTo>
                      <a:pt x="37879" y="206125"/>
                    </a:lnTo>
                    <a:cubicBezTo>
                      <a:pt x="27833" y="206125"/>
                      <a:pt x="18198" y="202135"/>
                      <a:pt x="11094" y="195031"/>
                    </a:cubicBezTo>
                    <a:cubicBezTo>
                      <a:pt x="3991" y="187927"/>
                      <a:pt x="0" y="178293"/>
                      <a:pt x="0" y="168247"/>
                    </a:cubicBezTo>
                    <a:lnTo>
                      <a:pt x="0" y="37879"/>
                    </a:lnTo>
                    <a:cubicBezTo>
                      <a:pt x="0" y="27833"/>
                      <a:pt x="3991" y="18198"/>
                      <a:pt x="11094" y="11094"/>
                    </a:cubicBezTo>
                    <a:cubicBezTo>
                      <a:pt x="18198" y="3991"/>
                      <a:pt x="27833" y="0"/>
                      <a:pt x="37879" y="0"/>
                    </a:cubicBezTo>
                    <a:close/>
                  </a:path>
                </a:pathLst>
              </a:custGeom>
              <a:solidFill>
                <a:srgbClr val="222222"/>
              </a:solidFill>
            </p:spPr>
          </p:sp>
          <p:sp>
            <p:nvSpPr>
              <p:cNvPr name="TextBox 20" id="20"/>
              <p:cNvSpPr txBox="true"/>
              <p:nvPr/>
            </p:nvSpPr>
            <p:spPr>
              <a:xfrm>
                <a:off x="0" y="-38100"/>
                <a:ext cx="807457" cy="244225"/>
              </a:xfrm>
              <a:prstGeom prst="rect">
                <a:avLst/>
              </a:prstGeom>
            </p:spPr>
            <p:txBody>
              <a:bodyPr anchor="ctr" rtlCol="false" tIns="50800" lIns="50800" bIns="50800" rIns="50800"/>
              <a:lstStyle/>
              <a:p>
                <a:pPr algn="ctr">
                  <a:lnSpc>
                    <a:spcPts val="2660"/>
                  </a:lnSpc>
                </a:pPr>
              </a:p>
            </p:txBody>
          </p:sp>
        </p:grpSp>
        <p:sp>
          <p:nvSpPr>
            <p:cNvPr name="TextBox 21" id="21"/>
            <p:cNvSpPr txBox="true"/>
            <p:nvPr/>
          </p:nvSpPr>
          <p:spPr>
            <a:xfrm rot="0">
              <a:off x="5423710" y="838445"/>
              <a:ext cx="224631" cy="493818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>
                <a:lnSpc>
                  <a:spcPts val="3079"/>
                </a:lnSpc>
              </a:pPr>
              <a:r>
                <a:rPr lang="en-US" sz="2199">
                  <a:solidFill>
                    <a:srgbClr val="9B9B9B"/>
                  </a:solidFill>
                  <a:latin typeface="Lucida Console"/>
                  <a:ea typeface="Lucida Console"/>
                  <a:cs typeface="Lucida Console"/>
                  <a:sym typeface="Lucida Console"/>
                </a:rPr>
                <a:t>X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2069427" y="763092"/>
              <a:ext cx="3307285" cy="56917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3640"/>
                </a:lnSpc>
              </a:pPr>
              <a:r>
                <a:rPr lang="en-US" sz="2600">
                  <a:solidFill>
                    <a:srgbClr val="E2E8E8"/>
                  </a:solidFill>
                  <a:latin typeface="Roboto Mono"/>
                  <a:ea typeface="Roboto Mono"/>
                  <a:cs typeface="Roboto Mono"/>
                  <a:sym typeface="Roboto Mono"/>
                </a:rPr>
                <a:t>exercicio.py</a:t>
              </a:r>
            </a:p>
          </p:txBody>
        </p:sp>
      </p:grpSp>
      <p:sp>
        <p:nvSpPr>
          <p:cNvPr name="TextBox 23" id="23"/>
          <p:cNvSpPr txBox="true"/>
          <p:nvPr/>
        </p:nvSpPr>
        <p:spPr>
          <a:xfrm rot="0">
            <a:off x="1459671" y="2788602"/>
            <a:ext cx="16576040" cy="67576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A mãe de João pediu para ele ir as compras, porém ele acha que escrever a lista no papel é algo muito ultrapassado. Pensando nisso, ele te contratou pra que desenvolva um programa onde ele possa criar uma lista de compras, adicionar um item para comprar, removê-lo caso tenha sido comprado além de exibir todos os que estão atualmente na lista!</a:t>
            </a:r>
          </a:p>
          <a:p>
            <a:pPr algn="l">
              <a:lnSpc>
                <a:spcPts val="4899"/>
              </a:lnSpc>
            </a:pP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Faça o programa usando os conteúdos que vimos nas últimas aulas, de forma que o usuário possa escolher qual ação ele deseja realizar, e que continue executando enquanto o usuário quiser.</a:t>
            </a:r>
          </a:p>
          <a:p>
            <a:pPr algn="l">
              <a:lnSpc>
                <a:spcPts val="4899"/>
              </a:lnSpc>
            </a:pPr>
            <a:r>
              <a:rPr lang="en-US" sz="2799">
                <a:solidFill>
                  <a:srgbClr val="42A458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‘’’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459671" y="1123950"/>
            <a:ext cx="16576040" cy="7727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650"/>
              </a:lnSpc>
            </a:pPr>
            <a:r>
              <a:rPr lang="en-US" sz="3800" b="true">
                <a:solidFill>
                  <a:srgbClr val="42A458"/>
                </a:solidFill>
                <a:latin typeface="Roboto Mono Bold"/>
                <a:ea typeface="Roboto Mono Bold"/>
                <a:cs typeface="Roboto Mono Bold"/>
                <a:sym typeface="Roboto Mono Bold"/>
              </a:rPr>
              <a:t># Lista de Compras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DAHR-3irrZY</dc:identifier>
  <dcterms:modified xsi:type="dcterms:W3CDTF">2011-08-01T06:04:30Z</dcterms:modified>
  <cp:revision>1</cp:revision>
  <dc:title>Slides Capacitação Python Dia 3</dc:title>
</cp:coreProperties>
</file>